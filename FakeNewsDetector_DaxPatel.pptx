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47" y="45"/>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6/15/2026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6/15/2026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6/15/2026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6/15/2026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6/15/2026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6/15/2026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6/15/2026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6/15/2026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6/15/2026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6/15/2026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6/15/2026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  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3" Type="http://schemas.openxmlformats.org/officeDocument/2006/relationships/hyperlink" Target="https://streamlit.io/" TargetMode="External"/><Relationship Id="rId2" Type="http://schemas.openxmlformats.org/officeDocument/2006/relationships/hyperlink" Target="https://huggingface.co/" TargetMode="External"/><Relationship Id="rId1" Type="http://schemas.openxmlformats.org/officeDocument/2006/relationships/slideLayout" Target="../slideLayouts/slideLayout2.xml"/><Relationship Id="rId5" Type="http://schemas.openxmlformats.org/officeDocument/2006/relationships/hyperlink" Target="https://scikit-learn.org/stable/supervised_learning.html" TargetMode="External"/><Relationship Id="rId4" Type="http://schemas.openxmlformats.org/officeDocument/2006/relationships/hyperlink" Target="https://www.python.org/" TargetMode="Externa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Fake News Detector for Students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202196" y="4058588"/>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Dax Hareshbhai Patel</a:t>
            </a:r>
          </a:p>
          <a:p>
            <a:pPr marL="457200" indent="-457200">
              <a:buAutoNum type="arabicPeriod"/>
            </a:pPr>
            <a:r>
              <a:rPr lang="en-US" sz="2000" b="1" dirty="0">
                <a:solidFill>
                  <a:schemeClr val="accent1">
                    <a:lumMod val="75000"/>
                  </a:schemeClr>
                </a:solidFill>
                <a:latin typeface="Arial"/>
                <a:cs typeface="Arial"/>
              </a:rPr>
              <a:t>College Name- MIT ADT University</a:t>
            </a:r>
          </a:p>
          <a:p>
            <a:pPr marL="457200" indent="-457200">
              <a:buAutoNum type="arabicPeriod"/>
            </a:pPr>
            <a:r>
              <a:rPr lang="en-US" sz="2000" b="1" dirty="0">
                <a:solidFill>
                  <a:schemeClr val="accent1">
                    <a:lumMod val="75000"/>
                  </a:schemeClr>
                </a:solidFill>
                <a:latin typeface="Arial"/>
                <a:cs typeface="Arial"/>
              </a:rPr>
              <a:t>Department- CSE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2000" b="1" dirty="0"/>
              <a:t>The Problem:</a:t>
            </a:r>
          </a:p>
          <a:p>
            <a:pPr marL="0" indent="0">
              <a:buNone/>
            </a:pPr>
            <a:r>
              <a:rPr lang="en-US" sz="1800" dirty="0"/>
              <a:t>Misinformation and fake news spread rapidly through social media and online platforms. Students often cannot distinguish between credible and fabricated news articles, leading to poor academic decisions and spread of false information.</a:t>
            </a:r>
          </a:p>
          <a:p>
            <a:pPr marL="0" indent="0">
              <a:buNone/>
            </a:pPr>
            <a:r>
              <a:rPr lang="en-US" sz="2000" b="1" dirty="0"/>
              <a:t>Key Challenges:</a:t>
            </a:r>
          </a:p>
          <a:p>
            <a:pPr marL="457200" indent="-457200">
              <a:buChar char="•"/>
            </a:pPr>
            <a:r>
              <a:rPr lang="en-US" sz="1700" dirty="0"/>
              <a:t>No easy tool for students to verify news credibility quickly</a:t>
            </a:r>
          </a:p>
          <a:p>
            <a:pPr marL="457200" indent="-457200">
              <a:buChar char="•"/>
            </a:pPr>
            <a:r>
              <a:rPr lang="en-US" sz="1700" dirty="0"/>
              <a:t>Manual fact-checking is time-consuming and requires expertise</a:t>
            </a:r>
          </a:p>
          <a:p>
            <a:pPr marL="457200" indent="-457200">
              <a:buChar char="•"/>
            </a:pPr>
            <a:r>
              <a:rPr lang="en-US" sz="1700" dirty="0"/>
              <a:t>Fake news uses convincing language that is hard to detect by reading alone</a:t>
            </a:r>
          </a:p>
          <a:p>
            <a:pPr marL="457200" indent="-457200">
              <a:buChar char="•"/>
            </a:pPr>
            <a:r>
              <a:rPr lang="en-US" sz="1700" dirty="0"/>
              <a:t>Students rely on unverified social media posts for information</a:t>
            </a:r>
          </a:p>
          <a:p>
            <a:pPr marL="0" indent="0">
              <a:buNone/>
            </a:pPr>
            <a:r>
              <a:rPr lang="en-US" sz="1800" b="1" dirty="0"/>
              <a:t>Impact: </a:t>
            </a:r>
            <a:r>
              <a:rPr lang="en-US" sz="1800" dirty="0"/>
              <a:t>Misinformation affects academic research quality, public opinion, and student decision-making.</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0" indent="0">
              <a:buNone/>
            </a:pPr>
            <a:r>
              <a:rPr lang="en-US" sz="1900" b="1" dirty="0"/>
              <a:t>An AI-powered web application that analyzes news articles and detects fake news using Natural Language Processing (NLP).</a:t>
            </a:r>
          </a:p>
          <a:p>
            <a:pPr marL="0" indent="0">
              <a:buNone/>
            </a:pPr>
            <a:r>
              <a:rPr lang="en-US" sz="1800" b="1" dirty="0"/>
              <a:t>Core Features:</a:t>
            </a:r>
          </a:p>
          <a:p>
            <a:pPr marL="457200" indent="-457200">
              <a:buChar char="•"/>
            </a:pPr>
            <a:r>
              <a:rPr lang="en-US" sz="1700" dirty="0"/>
              <a:t>Paste any news article or headline to get instant credibility analysis</a:t>
            </a:r>
          </a:p>
          <a:p>
            <a:pPr marL="457200" indent="-457200">
              <a:buChar char="•"/>
            </a:pPr>
            <a:r>
              <a:rPr lang="en-US" sz="1700" dirty="0"/>
              <a:t>Returns verdict: REAL / FAKE / UNCERTAIN with a confidence score (0-100%)</a:t>
            </a:r>
          </a:p>
          <a:p>
            <a:pPr marL="457200" indent="-457200">
              <a:buChar char="•"/>
            </a:pPr>
            <a:r>
              <a:rPr lang="en-US" sz="1700" dirty="0"/>
              <a:t>Provides explanation of red flags or trust signals detected in the text</a:t>
            </a:r>
          </a:p>
          <a:p>
            <a:pPr marL="457200" indent="-457200">
              <a:buChar char="•"/>
            </a:pPr>
            <a:r>
              <a:rPr lang="en-US" sz="1700" dirty="0"/>
              <a:t>Simple, clean web UI built with Streamlit - accessible from any browser</a:t>
            </a:r>
          </a:p>
          <a:p>
            <a:pPr marL="0" indent="0">
              <a:buNone/>
            </a:pPr>
            <a:r>
              <a:rPr lang="en-US" sz="1800" b="1" dirty="0"/>
              <a:t>AI Engine:</a:t>
            </a:r>
          </a:p>
          <a:p>
            <a:pPr marL="457200" indent="-457200">
              <a:buChar char="•"/>
            </a:pPr>
            <a:r>
              <a:rPr lang="en-US" sz="1700" dirty="0"/>
              <a:t>Primary: RoBERTa-based pre-trained model from HuggingFace (trained on 70,000+ articles)</a:t>
            </a:r>
          </a:p>
          <a:p>
            <a:pPr marL="457200" indent="-457200">
              <a:buChar char="•"/>
            </a:pPr>
            <a:r>
              <a:rPr lang="en-US" sz="1700" dirty="0"/>
              <a:t>Optional: Groq LLaMA-3 API for human-readable explanation of the verdict</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581192" y="345402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a:buNone/>
            </a:pPr>
            <a:r>
              <a:rPr lang="en-US" sz="1800" b="1" dirty="0"/>
              <a:t>Frontend:</a:t>
            </a:r>
            <a:r>
              <a:rPr lang="en-US" sz="1800" dirty="0"/>
              <a:t> Streamlit (Python web framework) - simple UI with text input and result display</a:t>
            </a:r>
          </a:p>
          <a:p>
            <a:pPr marL="0" indent="0">
              <a:buNone/>
            </a:pPr>
            <a:r>
              <a:rPr lang="en-US" sz="1800" b="1" dirty="0"/>
              <a:t>AI Model:</a:t>
            </a:r>
            <a:r>
              <a:rPr lang="en-US" sz="1800" dirty="0"/>
              <a:t> HuggingFace Transformers - hamzab/roberta-fake-news-classification (pre-trained RoBERTa)</a:t>
            </a:r>
          </a:p>
          <a:p>
            <a:pPr marL="0" indent="0">
              <a:buNone/>
            </a:pPr>
            <a:r>
              <a:rPr lang="en-US" sz="1800" b="1" dirty="0"/>
              <a:t>Optional Layer:</a:t>
            </a:r>
            <a:r>
              <a:rPr lang="en-US" sz="1800" dirty="0"/>
              <a:t> Groq API (LLaMA-3) for human-readable explanation of why news is real or fake</a:t>
            </a:r>
          </a:p>
          <a:p>
            <a:pPr marL="0" indent="0">
              <a:buNone/>
            </a:pPr>
            <a:r>
              <a:rPr lang="en-US" sz="1800" b="1" dirty="0"/>
              <a:t>Language:</a:t>
            </a:r>
            <a:r>
              <a:rPr lang="en-US" sz="1800" dirty="0"/>
              <a:t> Python 3.10+</a:t>
            </a:r>
          </a:p>
          <a:p>
            <a:pPr marL="0" indent="0">
              <a:buNone/>
            </a:pPr>
            <a:r>
              <a:rPr lang="en-US" sz="1800" b="1" dirty="0"/>
              <a:t>Key Libraries:</a:t>
            </a:r>
            <a:r>
              <a:rPr lang="en-US" sz="1800" dirty="0"/>
              <a:t> streamlit, transformers, torch, groq, requests</a:t>
            </a:r>
          </a:p>
          <a:p>
            <a:pPr marL="0" indent="0">
              <a:buNone/>
            </a:pPr>
            <a:r>
              <a:rPr lang="en-US" sz="1800" b="1" dirty="0"/>
              <a:t>Deployment:</a:t>
            </a:r>
            <a:r>
              <a:rPr lang="en-US" sz="1800" dirty="0"/>
              <a:t> Streamlit Cloud (free hosting via GitHub)</a:t>
            </a:r>
          </a:p>
          <a:p>
            <a:pPr marL="0" indent="0">
              <a:buNone/>
            </a:pPr>
            <a:r>
              <a:rPr lang="en-US" sz="1800" b="1" dirty="0"/>
              <a:t>Data Flow:</a:t>
            </a:r>
            <a:r>
              <a:rPr lang="en-US" sz="1800" dirty="0"/>
              <a:t> User Input -&gt; Text Preprocessing -&gt; RoBERTa Model -&gt; Verdict + Score -&gt; (Optional) Groq Explanation</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3315522"/>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Algorithm Steps:</a:t>
            </a:r>
          </a:p>
          <a:p>
            <a:pPr marL="457200" indent="-457200">
              <a:buAutoNum type="arabicPeriod"/>
            </a:pPr>
            <a:r>
              <a:rPr lang="en-US" sz="1700" dirty="0"/>
              <a:t>User inputs a news headline or article text into the Streamlit web UI</a:t>
            </a:r>
          </a:p>
          <a:p>
            <a:pPr marL="457200" indent="-457200">
              <a:buAutoNum type="arabicPeriod"/>
            </a:pPr>
            <a:r>
              <a:rPr lang="en-US" sz="1700" dirty="0"/>
              <a:t>Text is cleaned and tokenized using HuggingFace AutoTokenizer</a:t>
            </a:r>
          </a:p>
          <a:p>
            <a:pPr marL="457200" indent="-457200">
              <a:buAutoNum type="arabicPeriod"/>
            </a:pPr>
            <a:r>
              <a:rPr lang="en-US" sz="1700" dirty="0"/>
              <a:t>Tokenized input is passed to RoBERTa model for classification</a:t>
            </a:r>
          </a:p>
          <a:p>
            <a:pPr marL="457200" indent="-457200">
              <a:buAutoNum type="arabicPeriod"/>
            </a:pPr>
            <a:r>
              <a:rPr lang="en-US" sz="1700" dirty="0"/>
              <a:t>Model returns label (REAL/FAKE) and confidence score via softmax</a:t>
            </a:r>
          </a:p>
          <a:p>
            <a:pPr marL="457200" indent="-457200">
              <a:buAutoNum type="arabicPeriod"/>
            </a:pPr>
            <a:r>
              <a:rPr lang="en-US" sz="1700" dirty="0"/>
              <a:t>(Optional) Groq LLaMA-3 API generates a plain-English explanation</a:t>
            </a:r>
          </a:p>
          <a:p>
            <a:pPr marL="457200" indent="-457200">
              <a:buAutoNum type="arabicPeriod"/>
            </a:pPr>
            <a:r>
              <a:rPr lang="en-US" sz="1700" dirty="0"/>
              <a:t>Result displayed with color-coded verdict card and progress bar score</a:t>
            </a:r>
          </a:p>
          <a:p>
            <a:pPr marL="0" indent="0">
              <a:buNone/>
            </a:pPr>
            <a:r>
              <a:rPr lang="en-US" sz="1800" b="1" dirty="0"/>
              <a:t>Deployment Steps:</a:t>
            </a:r>
            <a:r>
              <a:rPr lang="en-US" sz="1700" dirty="0"/>
              <a:t> Push code to GitHub -&gt; Connect to share.streamlit.io -&gt; Set secret keys -&gt; Deploy (free)</a:t>
            </a: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3" name="Rectangle 1">
            <a:extLst>
              <a:ext uri="{FF2B5EF4-FFF2-40B4-BE49-F238E27FC236}">
                <a16:creationId xmlns:a16="http://schemas.microsoft.com/office/drawing/2014/main" id="{EACDFCCA-3998-2A0E-AE71-80AFE8A15F7F}"/>
              </a:ext>
            </a:extLst>
          </p:cNvPr>
          <p:cNvSpPr>
            <a:spLocks noGrp="1" noChangeArrowheads="1"/>
          </p:cNvSpPr>
          <p:nvPr>
            <p:ph idx="1"/>
          </p:nvPr>
        </p:nvSpPr>
        <p:spPr bwMode="auto">
          <a:xfrm>
            <a:off x="581192" y="2847540"/>
            <a:ext cx="4710475" cy="416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lang="en-US" sz="1700" b="1" dirty="0"/>
              <a:t>Model Performance (on WELFake Dataset):</a:t>
            </a:r>
          </a:p>
          <a:p>
            <a:pPr marL="457200" indent="-457200">
              <a:buChar char="•"/>
            </a:pPr>
            <a:r>
              <a:rPr lang="en-US" sz="1700" dirty="0"/>
              <a:t>Accuracy: ~88% on test set</a:t>
            </a:r>
          </a:p>
          <a:p>
            <a:pPr marL="457200" indent="-457200">
              <a:buChar char="•"/>
            </a:pPr>
            <a:r>
              <a:rPr lang="en-US" sz="1700" dirty="0"/>
              <a:t>Real News Detection (Precision): ~91%</a:t>
            </a:r>
          </a:p>
          <a:p>
            <a:pPr marL="457200" indent="-457200">
              <a:buChar char="•"/>
            </a:pPr>
            <a:r>
              <a:rPr lang="en-US" sz="1700" dirty="0"/>
              <a:t>Fake News Detection (Recall): ~86%</a:t>
            </a:r>
          </a:p>
          <a:p>
            <a:pPr marL="457200" indent="-457200">
              <a:buChar char="•"/>
            </a:pPr>
            <a:r>
              <a:rPr lang="en-US" sz="1700" dirty="0"/>
              <a:t>Average response time: under 2 seconds per query</a:t>
            </a:r>
          </a:p>
          <a:p>
            <a:pPr marL="0" indent="0">
              <a:buNone/>
            </a:pPr>
            <a:r>
              <a:rPr lang="en-US" sz="1700" b="1" dirty="0"/>
              <a:t>App Demo:</a:t>
            </a:r>
            <a:r>
              <a:rPr lang="en-US" sz="1700" dirty="0"/>
              <a:t> Tested on 10 real and 10 fake sample articles - correctly classified 17 out of 20</a:t>
            </a:r>
          </a:p>
          <a:p>
            <a:pPr marL="0" indent="0">
              <a:buNone/>
            </a:pPr>
            <a:r>
              <a:rPr lang="en-US" sz="1700" b="1" dirty="0"/>
              <a:t>Limitation:</a:t>
            </a:r>
            <a:r>
              <a:rPr lang="en-US" sz="1700" dirty="0"/>
              <a:t> Cannot verify real-world facts in real time; detects linguistic patterns only</a:t>
            </a:r>
          </a:p>
          <a:p>
            <a:pPr marL="0" indent="0">
              <a:buNone/>
            </a:pPr>
            <a:endParaRPr lang="en-US" sz="1600"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457200" indent="-457200">
              <a:buChar char="•"/>
            </a:pPr>
            <a:r>
              <a:rPr lang="en-US" sz="1900" dirty="0"/>
              <a:t>The Fake News Detector successfully demonstrates how pre-trained NLP models can be applied to solve a real-world student problem without requiring custom dataset collection or model training.</a:t>
            </a:r>
          </a:p>
          <a:p>
            <a:pPr marL="457200" indent="-457200">
              <a:buChar char="•"/>
            </a:pPr>
            <a:r>
              <a:rPr lang="en-US" sz="1900" dirty="0"/>
              <a:t>Using HuggingFace's RoBERTa model, the app achieves ~88% accuracy and delivers results in under 2 seconds, making it practical for everyday student use.</a:t>
            </a:r>
          </a:p>
          <a:p>
            <a:pPr marL="457200" indent="-457200">
              <a:buChar char="•"/>
            </a:pPr>
            <a:r>
              <a:rPr lang="en-US" sz="1900" dirty="0"/>
              <a:t>The Streamlit-based interface ensures the tool is accessible to all students regardless of technical background — no installation needed.</a:t>
            </a:r>
          </a:p>
          <a:p>
            <a:pPr marL="457200" indent="-457200">
              <a:buChar char="•"/>
            </a:pPr>
            <a:r>
              <a:rPr lang="en-US" sz="1900" dirty="0"/>
              <a:t>This project proves that Generative AI and transfer learning can be combined to build impactful, low-cost tools that promote media literacy among students.</a:t>
            </a:r>
          </a:p>
          <a:p>
            <a:pPr marL="0" indent="0">
              <a:buNone/>
            </a:pPr>
            <a:endParaRPr lang="en-US" sz="19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778933" y="2990334"/>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indent="-457200">
              <a:buChar char="•"/>
            </a:pPr>
            <a:r>
              <a:rPr lang="en-US" sz="1800" dirty="0"/>
              <a:t>Browser Extension: Build a Chrome/Edge plugin that auto-checks any news article a student reads online</a:t>
            </a:r>
          </a:p>
          <a:p>
            <a:pPr marL="457200" indent="-457200">
              <a:buChar char="•"/>
            </a:pPr>
            <a:r>
              <a:rPr lang="en-US" sz="1800" dirty="0"/>
              <a:t>Multilingual Support: Extend model to detect fake news in Hindi, Gujarati, and other regional languages</a:t>
            </a:r>
          </a:p>
          <a:p>
            <a:pPr marL="457200" indent="-457200">
              <a:buChar char="•"/>
            </a:pPr>
            <a:r>
              <a:rPr lang="en-US" sz="1800" dirty="0"/>
              <a:t>Real-time Fact Checking: Integrate Google Fact Check API to cross-verify claims against known fact-checked sources</a:t>
            </a:r>
          </a:p>
          <a:p>
            <a:pPr marL="457200" indent="-457200">
              <a:buChar char="•"/>
            </a:pPr>
            <a:r>
              <a:rPr lang="en-US" sz="1800" dirty="0"/>
              <a:t>Image Fake News: Add detection for AI-generated or manipulated images accompanying news articles</a:t>
            </a:r>
          </a:p>
          <a:p>
            <a:pPr marL="457200" indent="-457200">
              <a:buChar char="•"/>
            </a:pPr>
            <a:r>
              <a:rPr lang="en-US" sz="1800" dirty="0"/>
              <a:t>Source Credibility Score: Rate the overall trustworthiness of news websites and flag repeat offenders</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3" name="TextBox 2">
            <a:extLst>
              <a:ext uri="{FF2B5EF4-FFF2-40B4-BE49-F238E27FC236}">
                <a16:creationId xmlns:a16="http://schemas.microsoft.com/office/drawing/2014/main" id="{A39C82B0-CBA2-0FD2-0400-979E31AC4978}"/>
              </a:ext>
            </a:extLst>
          </p:cNvPr>
          <p:cNvSpPr txBox="1"/>
          <p:nvPr/>
        </p:nvSpPr>
        <p:spPr>
          <a:xfrm>
            <a:off x="668866" y="1525601"/>
            <a:ext cx="6096000" cy="369332"/>
          </a:xfrm>
          <a:prstGeom prst="rect">
            <a:avLst/>
          </a:prstGeom>
          <a:noFill/>
        </p:spPr>
        <p:txBody>
          <a:bodyPr wrap="square">
            <a:spAutoFit/>
          </a:bodyPr>
          <a:lstStyle/>
          <a:p>
            <a:r>
              <a:rPr lang="en-US" dirty="0">
                <a:hlinkClick r:id="rId2"/>
              </a:rPr>
              <a:t>1. HuggingFace - hamzab/roberta-fake-news-classification model (huggingface.co/hamzab/roberta-fake-news-classification)</a:t>
            </a:r>
            <a:endParaRPr lang="en-IN" dirty="0"/>
          </a:p>
        </p:txBody>
      </p:sp>
      <p:sp>
        <p:nvSpPr>
          <p:cNvPr id="6" name="TextBox 5">
            <a:extLst>
              <a:ext uri="{FF2B5EF4-FFF2-40B4-BE49-F238E27FC236}">
                <a16:creationId xmlns:a16="http://schemas.microsoft.com/office/drawing/2014/main" id="{6868E3FB-22A7-E0B8-4581-182B6AF5A531}"/>
              </a:ext>
            </a:extLst>
          </p:cNvPr>
          <p:cNvSpPr txBox="1"/>
          <p:nvPr/>
        </p:nvSpPr>
        <p:spPr>
          <a:xfrm>
            <a:off x="668866" y="2118267"/>
            <a:ext cx="6096000" cy="369332"/>
          </a:xfrm>
          <a:prstGeom prst="rect">
            <a:avLst/>
          </a:prstGeom>
          <a:noFill/>
        </p:spPr>
        <p:txBody>
          <a:bodyPr wrap="square">
            <a:spAutoFit/>
          </a:bodyPr>
          <a:lstStyle/>
          <a:p>
            <a:r>
              <a:rPr lang="en-US" dirty="0" err="1">
                <a:hlinkClick r:id="rId3"/>
              </a:rPr>
              <a:t>2. Streamlit Documentation - Build and share data apps (streamlit.io/docs)</a:t>
            </a:r>
            <a:endParaRPr lang="en-IN" dirty="0"/>
          </a:p>
        </p:txBody>
      </p:sp>
      <p:sp>
        <p:nvSpPr>
          <p:cNvPr id="8" name="TextBox 7">
            <a:extLst>
              <a:ext uri="{FF2B5EF4-FFF2-40B4-BE49-F238E27FC236}">
                <a16:creationId xmlns:a16="http://schemas.microsoft.com/office/drawing/2014/main" id="{A0AED30D-1BDE-D15E-24BF-CDF91FB17E3B}"/>
              </a:ext>
            </a:extLst>
          </p:cNvPr>
          <p:cNvSpPr txBox="1"/>
          <p:nvPr/>
        </p:nvSpPr>
        <p:spPr>
          <a:xfrm>
            <a:off x="668866" y="2710933"/>
            <a:ext cx="6096000" cy="369332"/>
          </a:xfrm>
          <a:prstGeom prst="rect">
            <a:avLst/>
          </a:prstGeom>
          <a:noFill/>
        </p:spPr>
        <p:txBody>
          <a:bodyPr wrap="square">
            <a:spAutoFit/>
          </a:bodyPr>
          <a:lstStyle/>
          <a:p>
            <a:r>
              <a:rPr lang="en-IN" dirty="0">
                <a:hlinkClick r:id="rId4"/>
              </a:rPr>
              <a:t>3. Groq API Documentation - Free LLM inference API (console.groq.com/docs)</a:t>
            </a:r>
            <a:endParaRPr lang="en-IN" dirty="0"/>
          </a:p>
        </p:txBody>
      </p:sp>
      <p:sp>
        <p:nvSpPr>
          <p:cNvPr id="10" name="TextBox 9">
            <a:extLst>
              <a:ext uri="{FF2B5EF4-FFF2-40B4-BE49-F238E27FC236}">
                <a16:creationId xmlns:a16="http://schemas.microsoft.com/office/drawing/2014/main" id="{60239F6C-608D-FFC0-AE73-B5FE2296234F}"/>
              </a:ext>
            </a:extLst>
          </p:cNvPr>
          <p:cNvSpPr txBox="1"/>
          <p:nvPr/>
        </p:nvSpPr>
        <p:spPr>
          <a:xfrm>
            <a:off x="668866" y="3303599"/>
            <a:ext cx="6096000" cy="369332"/>
          </a:xfrm>
          <a:prstGeom prst="rect">
            <a:avLst/>
          </a:prstGeom>
          <a:noFill/>
        </p:spPr>
        <p:txBody>
          <a:bodyPr wrap="square">
            <a:spAutoFit/>
          </a:bodyPr>
          <a:lstStyle/>
          <a:p>
            <a:r>
              <a:rPr lang="en-US" dirty="0">
                <a:hlinkClick r:id="rId5"/>
              </a:rPr>
              <a:t>4. WELFake Dataset - Verma et al. (2021), IEEE Transactions on Computational Social Systems</a:t>
            </a:r>
            <a:endParaRPr lang="en-IN"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a:t>GitHub Link: github.com/daxpatel/fake-news-detector</a:t>
            </a:r>
          </a:p>
          <a:p>
            <a:r>
              <a:rPr lang="en-IN" dirty="0"/>
              <a:t>Deployment Link: fake-news-detector-dax.streamlit.app</a:t>
            </a:r>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1037</TotalTime>
  <Words>110</Words>
  <Application>Microsoft Office PowerPoint</Application>
  <PresentationFormat>Widescreen</PresentationFormat>
  <Paragraphs>35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Project title</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DAX PATEL</cp:lastModifiedBy>
  <cp:revision>37</cp:revision>
  <dcterms:created xsi:type="dcterms:W3CDTF">2021-05-26T16:50:10Z</dcterms:created>
  <dcterms:modified xsi:type="dcterms:W3CDTF">2026-06-15T09:59:30Z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